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6094476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4476" y="457200"/>
            <a:ext cx="6094476" cy="54864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463040"/>
            <a:ext cx="2286000" cy="2286000"/>
          </a:xfrm>
          <a:prstGeom prst="rect">
            <a:avLst/>
          </a:prstGeom>
          <a:solidFill>
            <a:srgbClr val="0A2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164592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720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28016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200">
                <a:solidFill>
                  <a:srgbClr val="00C2FF"/>
                </a:solidFill>
              </a:rPr>
              <a:t>Chat-India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4231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700">
                <a:solidFill>
                  <a:srgbClr val="D0E8FF"/>
                </a:solidFill>
              </a:rPr>
              <a:t>Secure Conversations. Hidden Control. Trusted Privacy.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3291840"/>
            <a:ext cx="5943600" cy="36576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3429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AABBCC"/>
                </a:solidFill>
              </a:rPr>
              <a:t>Privacy-First Realtime Chat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3931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AABBCC"/>
                </a:solidFill>
              </a:rPr>
              <a:t>End-to-End Encrypted  ·  Panic Lock  ·  Hidden Vault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5669280"/>
            <a:ext cx="1280160" cy="36576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56692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FFFFFF"/>
                </a:solidFill>
              </a:rPr>
              <a:t>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6094476" cy="7315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00C2FF"/>
                </a:solidFill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1704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097280"/>
            <a:ext cx="502920" cy="5029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097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1704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FFFFFF"/>
                </a:solidFill>
              </a:rPr>
              <a:t>Vision &amp; Goals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65960"/>
            <a:ext cx="502920" cy="5029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9659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0391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FFFFFF"/>
                </a:solidFill>
              </a:rPr>
              <a:t>Key Features &amp; USPs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965960"/>
            <a:ext cx="502920" cy="5029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659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0391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834640"/>
            <a:ext cx="502920" cy="5029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834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9077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834640"/>
            <a:ext cx="502920" cy="5029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834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9077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FFFFFF"/>
                </a:solidFill>
              </a:rPr>
              <a:t>Security Highlights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03320"/>
            <a:ext cx="502920" cy="5029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03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7764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FFFFFF"/>
                </a:solidFill>
              </a:rPr>
              <a:t>Core Workflows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703320"/>
            <a:ext cx="502920" cy="5029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703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37764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FFFFFF"/>
                </a:solidFill>
              </a:rPr>
              <a:t>Target Users &amp; Metrics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572000"/>
            <a:ext cx="502920" cy="5029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572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6451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FFFFFF"/>
                </a:solidFill>
              </a:rPr>
              <a:t>Demo Flow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572000"/>
            <a:ext cx="502920" cy="5029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4572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46451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FFFFFF"/>
                </a:solidFill>
              </a:rPr>
              <a:t>Roadmap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6094476" cy="7315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00C2FF"/>
                </a:solidFill>
              </a:rP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303520" cy="19659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00C2FF"/>
                </a:solidFill>
              </a:rPr>
              <a:t>🔓  Privacy Erosion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D0E8FF"/>
                </a:solidFill>
              </a:rPr>
              <a:t>Popular chat apps store messages in plaintext on servers, leaving users exposed.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097280"/>
            <a:ext cx="5303520" cy="19659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344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00C2FF"/>
                </a:solidFill>
              </a:rPr>
              <a:t>👁  Surveillance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D0E8FF"/>
                </a:solidFill>
              </a:rPr>
              <a:t>No protection against forced account access, coercion, or device theft.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91840"/>
            <a:ext cx="5303520" cy="19659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290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00C2FF"/>
                </a:solidFill>
              </a:rPr>
              <a:t>💬  No Emergency Exit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D0E8FF"/>
                </a:solidFill>
              </a:rPr>
              <a:t>Users have no quick way to lock or wipe access under duress.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291840"/>
            <a:ext cx="5303520" cy="19659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4290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00C2FF"/>
                </a:solidFill>
              </a:rPr>
              <a:t>🔐  Weak Encryption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8862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D0E8FF"/>
                </a:solidFill>
              </a:rPr>
              <a:t>Most consumer apps use server-controlled encryption — not true E2EE.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6094476" cy="7315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00C2FF"/>
                </a:solidFill>
              </a:rPr>
              <a:t>Vision &amp;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500">
                <a:solidFill>
                  <a:srgbClr val="FFD000"/>
                </a:solidFill>
              </a:rPr>
              <a:t>"Not another chat app. A secure communication platform built with user privacy as the priority."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3657600" cy="19202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20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1051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0C2FF"/>
                </a:solidFill>
              </a:rPr>
              <a:t>Realtime 1:1 Messaging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31720"/>
            <a:ext cx="3383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D0E8FF"/>
                </a:solidFill>
              </a:rPr>
              <a:t>Sub-1s delivery via WebSocket / Socket.IO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9392" y="1645920"/>
            <a:ext cx="3657600" cy="19202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175564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20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0912" y="181051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0C2FF"/>
                </a:solidFill>
              </a:rPr>
              <a:t>Client-Side E2EE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2331720"/>
            <a:ext cx="3383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D0E8FF"/>
                </a:solidFill>
              </a:rPr>
              <a:t>Messages encrypted in-browser before leaving device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3024" y="1645920"/>
            <a:ext cx="3657600" cy="19202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4" y="175564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200">
                <a:solidFill>
                  <a:srgbClr val="FFFFFF"/>
                </a:solidFill>
              </a:rPr>
              <a:t>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4544" y="181051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0C2FF"/>
                </a:solidFill>
              </a:rPr>
              <a:t>Hidden Vault Chats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2331720"/>
            <a:ext cx="3383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D0E8FF"/>
                </a:solidFill>
              </a:rPr>
              <a:t>PIN/password-locked secret conversation area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840480"/>
            <a:ext cx="3657600" cy="19202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95020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200">
                <a:solidFill>
                  <a:srgbClr val="FFFFFF"/>
                </a:solidFill>
              </a:rPr>
              <a:t>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00507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0C2FF"/>
                </a:solidFill>
              </a:rPr>
              <a:t>Remote Panic Lock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526280"/>
            <a:ext cx="3383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D0E8FF"/>
                </a:solidFill>
              </a:rPr>
              <a:t>Instantly lock &amp; wipe account from a trusted device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9392" y="3840480"/>
            <a:ext cx="3657600" cy="19202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16552" y="395020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20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0912" y="400507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0C2FF"/>
                </a:solidFill>
              </a:rPr>
              <a:t>Session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4526280"/>
            <a:ext cx="3383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D0E8FF"/>
                </a:solidFill>
              </a:rPr>
              <a:t>View &amp; revoke active sessions across devices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93024" y="3840480"/>
            <a:ext cx="3657600" cy="19202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0184" y="395020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20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24544" y="400507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0C2FF"/>
                </a:solidFill>
              </a:rPr>
              <a:t>Clean Responsive UX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0184" y="4526280"/>
            <a:ext cx="3383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D0E8FF"/>
                </a:solidFill>
              </a:rPr>
              <a:t>Dark-mode-first, fast, mobile-friendly web 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6094476" cy="7315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00C2FF"/>
                </a:solidFill>
              </a:rPr>
              <a:t>Key Features &amp; USPs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11430000" cy="105156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FFFFFF"/>
                </a:solidFill>
              </a:rPr>
              <a:t>★  MAIN USP — Remote Panic 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D0E8FF"/>
                </a:solidFill>
              </a:rPr>
              <a:t>Send a secret code from a trusted device → app instantly locks, hides notifications, wipes local cache, blocks all access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48840"/>
            <a:ext cx="3703320" cy="20116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4028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0C2FF"/>
                </a:solidFill>
              </a:rPr>
              <a:t>Signal-Inspired E2EE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5176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D0E8FF"/>
                </a:solidFill>
              </a:rPr>
              <a:t>▸  X25519 key pairs</a:t>
            </a:r>
          </a:p>
          <a:p>
            <a:r>
              <a:rPr sz="1200">
                <a:solidFill>
                  <a:srgbClr val="D0E8FF"/>
                </a:solidFill>
              </a:rPr>
              <a:t>▸  Per-message ephemeral keys</a:t>
            </a:r>
          </a:p>
          <a:p>
            <a:r>
              <a:rPr sz="1200">
                <a:solidFill>
                  <a:srgbClr val="D0E8FF"/>
                </a:solidFill>
              </a:rPr>
              <a:t>▸  Forward secrecy</a:t>
            </a:r>
          </a:p>
          <a:p>
            <a:r>
              <a:rPr sz="1200">
                <a:solidFill>
                  <a:srgbClr val="D0E8FF"/>
                </a:solidFill>
              </a:rPr>
              <a:t>▸  Zero plaintext on server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9392" y="2148840"/>
            <a:ext cx="3703320" cy="20116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6552" y="224028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0C2FF"/>
                </a:solidFill>
              </a:rPr>
              <a:t>Hidden Vault Chats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265176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D0E8FF"/>
                </a:solidFill>
              </a:rPr>
              <a:t>▸  PIN / Password protected</a:t>
            </a:r>
          </a:p>
          <a:p>
            <a:r>
              <a:rPr sz="1200">
                <a:solidFill>
                  <a:srgbClr val="D0E8FF"/>
                </a:solidFill>
              </a:rPr>
              <a:t>▸  Separate vault screen</a:t>
            </a:r>
          </a:p>
          <a:p>
            <a:r>
              <a:rPr sz="1200">
                <a:solidFill>
                  <a:srgbClr val="D0E8FF"/>
                </a:solidFill>
              </a:rPr>
              <a:t>▸  Chats invisible from main list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3024" y="2148840"/>
            <a:ext cx="3703320" cy="20116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4" y="224028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0C2FF"/>
                </a:solidFill>
              </a:rPr>
              <a:t>Self-Destruct Messages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4" y="265176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D0E8FF"/>
                </a:solidFill>
              </a:rPr>
              <a:t>▸  Timers: 10s / 1min / 1hr / custom</a:t>
            </a:r>
          </a:p>
          <a:p>
            <a:r>
              <a:rPr sz="1200">
                <a:solidFill>
                  <a:srgbClr val="D0E8FF"/>
                </a:solidFill>
              </a:rPr>
              <a:t>▸  Auto-delete from client &amp; server</a:t>
            </a:r>
          </a:p>
          <a:p>
            <a:r>
              <a:rPr sz="1200">
                <a:solidFill>
                  <a:srgbClr val="D0E8FF"/>
                </a:solidFill>
              </a:rPr>
              <a:t>▸  No trace left behind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97680"/>
            <a:ext cx="3703320" cy="20116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38912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0C2FF"/>
                </a:solidFill>
              </a:rPr>
              <a:t>Secure Cloud Sync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0060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D0E8FF"/>
                </a:solidFill>
              </a:rPr>
              <a:t>▸  Encrypted chat sync across devices</a:t>
            </a:r>
          </a:p>
          <a:p>
            <a:r>
              <a:rPr sz="1200">
                <a:solidFill>
                  <a:srgbClr val="D0E8FF"/>
                </a:solidFill>
              </a:rPr>
              <a:t>▸  Private key encrypted with password</a:t>
            </a:r>
          </a:p>
          <a:p>
            <a:r>
              <a:rPr sz="1200">
                <a:solidFill>
                  <a:srgbClr val="D0E8FF"/>
                </a:solidFill>
              </a:rPr>
              <a:t>▸  Works on re-login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9392" y="4297680"/>
            <a:ext cx="3703320" cy="20116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16552" y="438912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0C2FF"/>
                </a:solidFill>
              </a:rPr>
              <a:t>Session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480060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D0E8FF"/>
                </a:solidFill>
              </a:rPr>
              <a:t>▸  View all active sessions</a:t>
            </a:r>
          </a:p>
          <a:p>
            <a:r>
              <a:rPr sz="1200">
                <a:solidFill>
                  <a:srgbClr val="D0E8FF"/>
                </a:solidFill>
              </a:rPr>
              <a:t>▸  Browser + device info</a:t>
            </a:r>
          </a:p>
          <a:p>
            <a:r>
              <a:rPr sz="1200">
                <a:solidFill>
                  <a:srgbClr val="D0E8FF"/>
                </a:solidFill>
              </a:rPr>
              <a:t>▸  Logout any remote session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93024" y="4297680"/>
            <a:ext cx="3703320" cy="20116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438912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0C2FF"/>
                </a:solidFill>
              </a:rPr>
              <a:t>Core Messaging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4" y="480060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D0E8FF"/>
                </a:solidFill>
              </a:rPr>
              <a:t>▸  Typing indicators</a:t>
            </a:r>
          </a:p>
          <a:p>
            <a:r>
              <a:rPr sz="1200">
                <a:solidFill>
                  <a:srgbClr val="D0E8FF"/>
                </a:solidFill>
              </a:rPr>
              <a:t>▸  Read receipts</a:t>
            </a:r>
          </a:p>
          <a:p>
            <a:r>
              <a:rPr sz="1200">
                <a:solidFill>
                  <a:srgbClr val="D0E8FF"/>
                </a:solidFill>
              </a:rPr>
              <a:t>▸  Online/Last seen</a:t>
            </a:r>
          </a:p>
          <a:p>
            <a:r>
              <a:rPr sz="1200">
                <a:solidFill>
                  <a:srgbClr val="D0E8FF"/>
                </a:solidFill>
              </a:rPr>
              <a:t>▸  Edit &amp; delete messages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6094476" cy="7315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00C2FF"/>
                </a:solidFill>
              </a:rPr>
              <a:t>Tech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703320" cy="24231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00C2FF"/>
                </a:solidFill>
              </a:rPr>
              <a:t>🖥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D0E8FF"/>
                </a:solidFill>
              </a:rPr>
              <a:t>▸  Next.js 14</a:t>
            </a:r>
          </a:p>
          <a:p>
            <a:r>
              <a:rPr sz="1300">
                <a:solidFill>
                  <a:srgbClr val="D0E8FF"/>
                </a:solidFill>
              </a:rPr>
              <a:t>▸  TypeScript</a:t>
            </a:r>
          </a:p>
          <a:p>
            <a:r>
              <a:rPr sz="1300">
                <a:solidFill>
                  <a:srgbClr val="D0E8FF"/>
                </a:solidFill>
              </a:rPr>
              <a:t>▸  Tailwind CSS</a:t>
            </a:r>
          </a:p>
          <a:p>
            <a:r>
              <a:rPr sz="1300">
                <a:solidFill>
                  <a:srgbClr val="D0E8FF"/>
                </a:solidFill>
              </a:rPr>
              <a:t>▸  Framer Motion</a:t>
            </a:r>
          </a:p>
          <a:p>
            <a:r>
              <a:rPr sz="1300">
                <a:solidFill>
                  <a:srgbClr val="D0E8FF"/>
                </a:solidFill>
              </a:rPr>
              <a:t>▸  libsodium-wrappers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005840"/>
            <a:ext cx="3703320" cy="24231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109728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00C2FF"/>
                </a:solidFill>
              </a:rPr>
              <a:t>⚙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1536192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D0E8FF"/>
                </a:solidFill>
              </a:rPr>
              <a:t>▸  Node.js</a:t>
            </a:r>
          </a:p>
          <a:p>
            <a:r>
              <a:rPr sz="1300">
                <a:solidFill>
                  <a:srgbClr val="D0E8FF"/>
                </a:solidFill>
              </a:rPr>
              <a:t>▸  Express.js</a:t>
            </a:r>
          </a:p>
          <a:p>
            <a:r>
              <a:rPr sz="1300">
                <a:solidFill>
                  <a:srgbClr val="D0E8FF"/>
                </a:solidFill>
              </a:rPr>
              <a:t>▸  TypeScript</a:t>
            </a:r>
          </a:p>
          <a:p>
            <a:r>
              <a:rPr sz="1300">
                <a:solidFill>
                  <a:srgbClr val="D0E8FF"/>
                </a:solidFill>
              </a:rPr>
              <a:t>▸  Socket.IO</a:t>
            </a:r>
          </a:p>
          <a:p>
            <a:r>
              <a:rPr sz="1300">
                <a:solidFill>
                  <a:srgbClr val="D0E8FF"/>
                </a:solidFill>
              </a:rPr>
              <a:t>▸  Helmet + Rate-limit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93024" y="1005840"/>
            <a:ext cx="3703320" cy="24231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4" y="109728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00C2FF"/>
                </a:solidFill>
              </a:rPr>
              <a:t>🗄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4" y="1536192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D0E8FF"/>
                </a:solidFill>
              </a:rPr>
              <a:t>▸  MongoDB Atlas</a:t>
            </a:r>
          </a:p>
          <a:p>
            <a:r>
              <a:rPr sz="1300">
                <a:solidFill>
                  <a:srgbClr val="D0E8FF"/>
                </a:solidFill>
              </a:rPr>
              <a:t>▸  Mongoose ODM</a:t>
            </a:r>
          </a:p>
          <a:p>
            <a:r>
              <a:rPr sz="1300">
                <a:solidFill>
                  <a:srgbClr val="D0E8FF"/>
                </a:solidFill>
              </a:rPr>
              <a:t>▸  Indexes on chatId, userId, phone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11880"/>
            <a:ext cx="3703320" cy="24231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70332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00C2FF"/>
                </a:solidFill>
              </a:rPr>
              <a:t>⚡ Cache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42232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D0E8FF"/>
                </a:solidFill>
              </a:rPr>
              <a:t>▸  Redis (Upstash)</a:t>
            </a:r>
          </a:p>
          <a:p>
            <a:r>
              <a:rPr sz="1300">
                <a:solidFill>
                  <a:srgbClr val="D0E8FF"/>
                </a:solidFill>
              </a:rPr>
              <a:t>▸  OTP cache</a:t>
            </a:r>
          </a:p>
          <a:p>
            <a:r>
              <a:rPr sz="1300">
                <a:solidFill>
                  <a:srgbClr val="D0E8FF"/>
                </a:solidFill>
              </a:rPr>
              <a:t>▸  Online presence</a:t>
            </a:r>
          </a:p>
          <a:p>
            <a:r>
              <a:rPr sz="1300">
                <a:solidFill>
                  <a:srgbClr val="D0E8FF"/>
                </a:solidFill>
              </a:rPr>
              <a:t>▸  Rate limiting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9392" y="3611880"/>
            <a:ext cx="3703320" cy="24231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6552" y="370332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00C2FF"/>
                </a:solidFill>
              </a:rPr>
              <a:t>🔐 Crypto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4142232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D0E8FF"/>
                </a:solidFill>
              </a:rPr>
              <a:t>▸  X25519 (libsodium)</a:t>
            </a:r>
          </a:p>
          <a:p>
            <a:r>
              <a:rPr sz="1300">
                <a:solidFill>
                  <a:srgbClr val="D0E8FF"/>
                </a:solidFill>
              </a:rPr>
              <a:t>▸  Argon2id (PBKDF)</a:t>
            </a:r>
          </a:p>
          <a:p>
            <a:r>
              <a:rPr sz="1300">
                <a:solidFill>
                  <a:srgbClr val="D0E8FF"/>
                </a:solidFill>
              </a:rPr>
              <a:t>▸  XSalsa20-Poly1305</a:t>
            </a:r>
          </a:p>
          <a:p>
            <a:r>
              <a:rPr sz="1300">
                <a:solidFill>
                  <a:srgbClr val="D0E8FF"/>
                </a:solidFill>
              </a:rPr>
              <a:t>▸  Per-message ephemeral keys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93024" y="3611880"/>
            <a:ext cx="3703320" cy="24231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0184" y="370332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00C2FF"/>
                </a:solidFill>
              </a:rPr>
              <a:t>☁ Deploy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4" y="4142232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D0E8FF"/>
                </a:solidFill>
              </a:rPr>
              <a:t>▸  Vercel (Frontend)</a:t>
            </a:r>
          </a:p>
          <a:p>
            <a:r>
              <a:rPr sz="1300">
                <a:solidFill>
                  <a:srgbClr val="D0E8FF"/>
                </a:solidFill>
              </a:rPr>
              <a:t>▸  Azure App Service (Backend)</a:t>
            </a:r>
          </a:p>
          <a:p>
            <a:r>
              <a:rPr sz="1300">
                <a:solidFill>
                  <a:srgbClr val="D0E8FF"/>
                </a:solidFill>
              </a:rPr>
              <a:t>▸  MongoDB Atlas</a:t>
            </a:r>
          </a:p>
          <a:p>
            <a:r>
              <a:rPr sz="1300">
                <a:solidFill>
                  <a:srgbClr val="D0E8FF"/>
                </a:solidFill>
              </a:rPr>
              <a:t>▸  Upstash Redis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6094476" cy="7315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00C2FF"/>
                </a:solidFill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3291840" cy="17373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972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00C2FF"/>
                </a:solidFill>
              </a:rPr>
              <a:t>🖥  Frontend
(Next.js + TypeScript)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64208"/>
            <a:ext cx="3017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0E8FF"/>
                </a:solidFill>
              </a:rPr>
              <a:t>▸  UI &amp; Chat screens</a:t>
            </a:r>
          </a:p>
          <a:p>
            <a:r>
              <a:rPr sz="1100">
                <a:solidFill>
                  <a:srgbClr val="D0E8FF"/>
                </a:solidFill>
              </a:rPr>
              <a:t>▸  Client-side E2EE</a:t>
            </a:r>
          </a:p>
          <a:p>
            <a:r>
              <a:rPr sz="1100">
                <a:solidFill>
                  <a:srgbClr val="D0E8FF"/>
                </a:solidFill>
              </a:rPr>
              <a:t>▸  Session state</a:t>
            </a:r>
          </a:p>
          <a:p>
            <a:r>
              <a:rPr sz="1100">
                <a:solidFill>
                  <a:srgbClr val="D0E8FF"/>
                </a:solidFill>
              </a:rPr>
              <a:t>▸  Socket.IO client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05840"/>
            <a:ext cx="3291840" cy="17373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0972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00C2FF"/>
                </a:solidFill>
              </a:rPr>
              <a:t>⚙  Backend API
(Node.js + Express)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664208"/>
            <a:ext cx="3017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0E8FF"/>
                </a:solidFill>
              </a:rPr>
              <a:t>▸  Auth &amp; JWT</a:t>
            </a:r>
          </a:p>
          <a:p>
            <a:r>
              <a:rPr sz="1100">
                <a:solidFill>
                  <a:srgbClr val="D0E8FF"/>
                </a:solidFill>
              </a:rPr>
              <a:t>▸  REST API routes</a:t>
            </a:r>
          </a:p>
          <a:p>
            <a:r>
              <a:rPr sz="1100">
                <a:solidFill>
                  <a:srgbClr val="D0E8FF"/>
                </a:solidFill>
              </a:rPr>
              <a:t>▸  Socket.IO server</a:t>
            </a:r>
          </a:p>
          <a:p>
            <a:r>
              <a:rPr sz="1100">
                <a:solidFill>
                  <a:srgbClr val="D0E8FF"/>
                </a:solidFill>
              </a:rPr>
              <a:t>▸  Panic lock &amp; Vault APIs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005840"/>
            <a:ext cx="3291840" cy="17373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10972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00C2FF"/>
                </a:solidFill>
              </a:rPr>
              <a:t>🔒  Crypto Layer
(libsodium)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1664208"/>
            <a:ext cx="3017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0E8FF"/>
                </a:solidFill>
              </a:rPr>
              <a:t>▸  X25519 keypairs</a:t>
            </a:r>
          </a:p>
          <a:p>
            <a:r>
              <a:rPr sz="1100">
                <a:solidFill>
                  <a:srgbClr val="D0E8FF"/>
                </a:solidFill>
              </a:rPr>
              <a:t>▸  Argon2id PBKDF</a:t>
            </a:r>
          </a:p>
          <a:p>
            <a:r>
              <a:rPr sz="1100">
                <a:solidFill>
                  <a:srgbClr val="D0E8FF"/>
                </a:solidFill>
              </a:rPr>
              <a:t>▸  XSalsa20-Poly1305</a:t>
            </a:r>
          </a:p>
          <a:p>
            <a:r>
              <a:rPr sz="1100">
                <a:solidFill>
                  <a:srgbClr val="D0E8FF"/>
                </a:solidFill>
              </a:rPr>
              <a:t>▸  Ephemeral per-msg keys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3291840" cy="20116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93192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00C2FF"/>
                </a:solidFill>
              </a:rPr>
              <a:t>🗄  MongoDB Atlas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498848"/>
            <a:ext cx="3017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0E8FF"/>
                </a:solidFill>
              </a:rPr>
              <a:t>▸  users</a:t>
            </a:r>
          </a:p>
          <a:p>
            <a:r>
              <a:rPr sz="1100">
                <a:solidFill>
                  <a:srgbClr val="D0E8FF"/>
                </a:solidFill>
              </a:rPr>
              <a:t>▸  chats</a:t>
            </a:r>
          </a:p>
          <a:p>
            <a:r>
              <a:rPr sz="1100">
                <a:solidFill>
                  <a:srgbClr val="D0E8FF"/>
                </a:solidFill>
              </a:rPr>
              <a:t>▸  messages (ciphertext)</a:t>
            </a:r>
          </a:p>
          <a:p>
            <a:r>
              <a:rPr sz="1100">
                <a:solidFill>
                  <a:srgbClr val="D0E8FF"/>
                </a:solidFill>
              </a:rPr>
              <a:t>▸  sessions</a:t>
            </a:r>
          </a:p>
          <a:p>
            <a:r>
              <a:rPr sz="1100">
                <a:solidFill>
                  <a:srgbClr val="D0E8FF"/>
                </a:solidFill>
              </a:rPr>
              <a:t>▸  otp_requests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3840480"/>
            <a:ext cx="3291840" cy="20116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93192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00C2FF"/>
                </a:solidFill>
              </a:rPr>
              <a:t>⚡  Redis (Upstash)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498848"/>
            <a:ext cx="3017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0E8FF"/>
                </a:solidFill>
              </a:rPr>
              <a:t>▸  OTP cache (5-min TTL)</a:t>
            </a:r>
          </a:p>
          <a:p>
            <a:r>
              <a:rPr sz="1100">
                <a:solidFill>
                  <a:srgbClr val="D0E8FF"/>
                </a:solidFill>
              </a:rPr>
              <a:t>▸  Online presence</a:t>
            </a:r>
          </a:p>
          <a:p>
            <a:r>
              <a:rPr sz="1100">
                <a:solidFill>
                  <a:srgbClr val="D0E8FF"/>
                </a:solidFill>
              </a:rPr>
              <a:t>▸  Rate limiting</a:t>
            </a:r>
          </a:p>
          <a:p>
            <a:r>
              <a:rPr sz="1100">
                <a:solidFill>
                  <a:srgbClr val="D0E8FF"/>
                </a:solidFill>
              </a:rPr>
              <a:t>▸  Fast session store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3840480"/>
            <a:ext cx="3291840" cy="20116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393192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00C2FF"/>
                </a:solidFill>
              </a:rPr>
              <a:t>☁  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4498848"/>
            <a:ext cx="3017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0E8FF"/>
                </a:solidFill>
              </a:rPr>
              <a:t>▸  Vercel (Frontend)</a:t>
            </a:r>
          </a:p>
          <a:p>
            <a:r>
              <a:rPr sz="1100">
                <a:solidFill>
                  <a:srgbClr val="D0E8FF"/>
                </a:solidFill>
              </a:rPr>
              <a:t>▸  Azure App Service (API)</a:t>
            </a:r>
          </a:p>
          <a:p>
            <a:r>
              <a:rPr sz="1100">
                <a:solidFill>
                  <a:srgbClr val="D0E8FF"/>
                </a:solidFill>
              </a:rPr>
              <a:t>▸  MongoDB Atlas (DB)</a:t>
            </a:r>
          </a:p>
          <a:p>
            <a:r>
              <a:rPr sz="1100">
                <a:solidFill>
                  <a:srgbClr val="D0E8FF"/>
                </a:solidFill>
              </a:rPr>
              <a:t>▸  Upstash Redis (Cache)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67328" y="1737360"/>
            <a:ext cx="594360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14630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AABBCC"/>
                </a:solidFill>
              </a:rPr>
              <a:t>HTTPS + 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99248" y="1737360"/>
            <a:ext cx="685800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63440" y="2788920"/>
            <a:ext cx="73152" cy="102412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35040" y="2788920"/>
            <a:ext cx="73152" cy="102412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6094476" cy="7315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00C2FF"/>
                </a:solidFill>
              </a:rPr>
              <a:t>Security Highlights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669280" cy="17830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91440" cy="17830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0515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0C2FF"/>
                </a:solidFill>
              </a:rPr>
              <a:t>🔑 Zero-Knowledge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90472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D0E8FF"/>
                </a:solidFill>
              </a:rPr>
              <a:t>Server stores only ciphertext and public keys. No plaintext is ever stored or transmitted to the server.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960120"/>
            <a:ext cx="5669280" cy="17830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960120"/>
            <a:ext cx="91440" cy="178308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0515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0E076"/>
                </a:solidFill>
              </a:rPr>
              <a:t>⏩ Forward Secrecy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490472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D0E8FF"/>
                </a:solidFill>
              </a:rPr>
              <a:t>Per-message ephemeral X25519 keypairs — past messages cannot be decrypted even if long-term keys are compromised.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80360"/>
            <a:ext cx="5669280" cy="17830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880360"/>
            <a:ext cx="91440" cy="17830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9718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0C2FF"/>
                </a:solidFill>
              </a:rPr>
              <a:t>🧠 Memory 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10712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D0E8FF"/>
                </a:solidFill>
              </a:rPr>
              <a:t>Private key zeroed from memory on logout (Uint8Array.fill(0)). Derived key stored in sessionStorage only for session duration.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880360"/>
            <a:ext cx="5669280" cy="17830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880360"/>
            <a:ext cx="91440" cy="178308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9718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0E076"/>
                </a:solidFill>
              </a:rPr>
              <a:t>🆘 Panic Lock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10712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D0E8FF"/>
                </a:solidFill>
              </a:rPr>
              <a:t>Trusted device sends secret code → all sessions revoked, local cache wiped, notifications hidden, account locked instantly.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800600"/>
            <a:ext cx="5669280" cy="17830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800600"/>
            <a:ext cx="91440" cy="17830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8920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0C2FF"/>
                </a:solidFill>
              </a:rPr>
              <a:t>🛡 API 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30952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D0E8FF"/>
                </a:solidFill>
              </a:rPr>
              <a:t>Helmet headers, CORS restricted to frontend URL, express-rate-limit (200 req/15min), OTP brute-force protection.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800600"/>
            <a:ext cx="5669280" cy="17830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4800600"/>
            <a:ext cx="91440" cy="178308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8920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0E076"/>
                </a:solidFill>
              </a:rPr>
              <a:t>🔐 Password &amp; Auth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330952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D0E8FF"/>
                </a:solidFill>
              </a:rPr>
              <a:t>bcrypt (cost 12) for passwords, Argon2id for key derivation, JWT with per-session revocation, 5-min OTP TTL.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6094476" cy="7315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00C2FF"/>
                </a:solidFill>
              </a:rPr>
              <a:t>Core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411480" cy="38404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344168"/>
            <a:ext cx="73152" cy="9144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99669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</a:rPr>
              <a:t>Register → OTP Verify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35608"/>
            <a:ext cx="411480" cy="38404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3560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1819656"/>
            <a:ext cx="73152" cy="9144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47218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</a:rPr>
              <a:t>Account Created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911096"/>
            <a:ext cx="411480" cy="38404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911096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2295144"/>
            <a:ext cx="73152" cy="9144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19476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</a:rPr>
              <a:t>Generate X25519 Keypair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386584"/>
            <a:ext cx="411480" cy="38404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386584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2770632"/>
            <a:ext cx="73152" cy="9144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24231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</a:rPr>
              <a:t>Public key → Server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862072"/>
            <a:ext cx="411480" cy="38404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2862072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28986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</a:rPr>
              <a:t>Encrypt PrivKey with Password → Server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1264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00C2FF"/>
                </a:solidFill>
              </a:rPr>
              <a:t>Signup Flow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60120"/>
            <a:ext cx="411480" cy="38404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96012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28232" y="1344168"/>
            <a:ext cx="73152" cy="9144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99669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</a:rPr>
              <a:t>Enter Credentials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1435608"/>
            <a:ext cx="411480" cy="38404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143560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28232" y="1819656"/>
            <a:ext cx="73152" cy="9144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147218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</a:rPr>
              <a:t>Download Encrypted PrivKey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1911096"/>
            <a:ext cx="411480" cy="38404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1911096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28232" y="2295144"/>
            <a:ext cx="73152" cy="9144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19476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</a:rPr>
              <a:t>Argon2id Derive Key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2386584"/>
            <a:ext cx="411480" cy="38404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2386584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28232" y="2770632"/>
            <a:ext cx="73152" cy="9144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0" y="24231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</a:rPr>
              <a:t>Decrypt PrivKey in Browser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2862072"/>
            <a:ext cx="411480" cy="38404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2862072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28986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</a:rPr>
              <a:t>Sync Encrypted Chats → Ready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61264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7B2FFF"/>
                </a:solidFill>
              </a:rPr>
              <a:t>Login Flow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749040"/>
            <a:ext cx="411480" cy="38404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374904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0352" y="4133088"/>
            <a:ext cx="73152" cy="9144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" y="378561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</a:rPr>
              <a:t>Type Message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224528"/>
            <a:ext cx="411480" cy="38404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422452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0352" y="4608576"/>
            <a:ext cx="73152" cy="9144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426110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</a:rPr>
              <a:t>Generate Ephemeral Keypair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700016"/>
            <a:ext cx="411480" cy="38404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4700016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0352" y="5084064"/>
            <a:ext cx="73152" cy="9144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8680" y="473659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</a:rPr>
              <a:t>Encrypt with Recipient PubKey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5175504"/>
            <a:ext cx="411480" cy="38404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5175504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" y="5559552"/>
            <a:ext cx="73152" cy="9144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8680" y="52120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</a:rPr>
              <a:t>Send Ciphertext → Server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5650992"/>
            <a:ext cx="411480" cy="38404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5650992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" y="56875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</a:rPr>
              <a:t>Deliver via Socket.IO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340156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00C2FF"/>
                </a:solidFill>
              </a:rPr>
              <a:t>Send Message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63640" y="3749040"/>
            <a:ext cx="411480" cy="38404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63640" y="374904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28232" y="4133088"/>
            <a:ext cx="73152" cy="9144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766560" y="378561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</a:rPr>
              <a:t>Trusted Device Sends #LOCK-XXXX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3640" y="4224528"/>
            <a:ext cx="411480" cy="38404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63640" y="422452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28232" y="4608576"/>
            <a:ext cx="73152" cy="9144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766560" y="426110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</a:rPr>
              <a:t>Server Validates Secret Code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63640" y="4700016"/>
            <a:ext cx="411480" cy="38404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63640" y="4700016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28232" y="5084064"/>
            <a:ext cx="73152" cy="9144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766560" y="473659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</a:rPr>
              <a:t>All Sessions Revoked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263640" y="5175504"/>
            <a:ext cx="411480" cy="38404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63640" y="5175504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428232" y="5559552"/>
            <a:ext cx="73152" cy="9144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766560" y="52120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</a:rPr>
              <a:t>Clients Block Access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263640" y="5650992"/>
            <a:ext cx="411480" cy="38404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263640" y="5650992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766560" y="56875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FFFFFF"/>
                </a:solidFill>
              </a:rPr>
              <a:t>Local Cache Wiped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63640" y="340156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7B2FFF"/>
                </a:solidFill>
              </a:rPr>
              <a:t>Panic Lock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6094476" cy="7315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00C2FF"/>
                </a:solidFill>
              </a:rPr>
              <a:t>Target Users &amp; Success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7B2FFF"/>
                </a:solidFill>
              </a:rPr>
              <a:t>Target Users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303520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0C2FF"/>
                </a:solidFill>
              </a:rPr>
              <a:t>🎓 Students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D0E8FF"/>
                </a:solidFill>
              </a:rPr>
              <a:t>Need private communication without institutional monitoring.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5303520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0C2FF"/>
                </a:solidFill>
              </a:rPr>
              <a:t>🔏 Privacy-Conscious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D0E8FF"/>
                </a:solidFill>
              </a:rPr>
              <a:t>Concerned about data harvesting by mainstream platforms.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94760"/>
            <a:ext cx="5303520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0C2FF"/>
                </a:solidFill>
              </a:rPr>
              <a:t>💼 Professionals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97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D0E8FF"/>
                </a:solidFill>
              </a:rPr>
              <a:t>Require confidential business communication on the web.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983480"/>
            <a:ext cx="5303520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074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00C2FF"/>
                </a:solidFill>
              </a:rPr>
              <a:t>🆘 At-Risk Individuals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864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D0E8FF"/>
                </a:solidFill>
              </a:rPr>
              <a:t>Need emergency account protection in high-risk situations.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7B2FFF"/>
                </a:solidFill>
              </a:rPr>
              <a:t>Success Metrics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417320"/>
            <a:ext cx="2651760" cy="1463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52704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800">
                <a:solidFill>
                  <a:srgbClr val="00E076"/>
                </a:solidFill>
              </a:rPr>
              <a:t>90%+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13055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D0E8FF"/>
                </a:solidFill>
              </a:rPr>
              <a:t>Successful signup/login rate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1417320"/>
            <a:ext cx="2651760" cy="1463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600" y="152704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800">
                <a:solidFill>
                  <a:srgbClr val="00E076"/>
                </a:solidFill>
              </a:rPr>
              <a:t>&lt; 1s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13055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D0E8FF"/>
                </a:solidFill>
              </a:rPr>
              <a:t>Message delivery latency on normal network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063240"/>
            <a:ext cx="2651760" cy="1463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317296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800">
                <a:solidFill>
                  <a:srgbClr val="00E076"/>
                </a:solidFill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77647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D0E8FF"/>
                </a:solidFill>
              </a:rPr>
              <a:t>Plaintext messages stored on server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35440" y="3063240"/>
            <a:ext cx="2651760" cy="1463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600" y="317296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800">
                <a:solidFill>
                  <a:srgbClr val="00E076"/>
                </a:solidFill>
              </a:rPr>
              <a:t>&lt; 100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377647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D0E8FF"/>
                </a:solidFill>
              </a:rPr>
              <a:t>Stable concurrent active users (v1)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709160"/>
            <a:ext cx="2651760" cy="1463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481888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800">
                <a:solidFill>
                  <a:srgbClr val="00E076"/>
                </a:solidFill>
              </a:rPr>
              <a:t>5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42239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D0E8FF"/>
                </a:solidFill>
              </a:rPr>
              <a:t>OTP expiry TTL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35440" y="4709160"/>
            <a:ext cx="2651760" cy="1463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72600" y="481888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800">
                <a:solidFill>
                  <a:srgbClr val="00E076"/>
                </a:solidFill>
              </a:rPr>
              <a:t>30 day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542239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D0E8FF"/>
                </a:solidFill>
              </a:rPr>
              <a:t>JWT session expiry with per-session revocation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6094476" cy="7315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00C2FF"/>
                </a:solidFill>
              </a:rPr>
              <a:t>Demo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2788920" cy="23317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2788920" cy="5029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2412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051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</a:rPr>
              <a:t>Signup &amp; OTP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18488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D0E8FF"/>
                </a:solidFill>
              </a:rPr>
              <a:t>Register with phone number, receive &amp; verify SMS OTP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960120"/>
            <a:ext cx="2788920" cy="23317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0128" y="960120"/>
            <a:ext cx="2788920" cy="5029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102412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4488" y="1051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</a:rPr>
              <a:t>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1618488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D0E8FF"/>
                </a:solidFill>
              </a:rPr>
              <a:t>Login, decrypt private key client-side, session established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4496" y="960120"/>
            <a:ext cx="2788920" cy="23317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4496" y="960120"/>
            <a:ext cx="2788920" cy="5029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6" y="102412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8856" y="1051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</a:rPr>
              <a:t>Real-time Messaging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1618488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D0E8FF"/>
                </a:solidFill>
              </a:rPr>
              <a:t>1:1 chat — typing indicator, read receipts, online 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98864" y="960120"/>
            <a:ext cx="2788920" cy="23317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98864" y="960120"/>
            <a:ext cx="2788920" cy="5029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36024" y="102412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3224" y="1051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</a:rPr>
              <a:t>Hidden Vault Chat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6024" y="1618488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D0E8FF"/>
                </a:solidFill>
              </a:rPr>
              <a:t>Move sensitive chat to vault, access with PIN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520440"/>
            <a:ext cx="2788920" cy="23317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520440"/>
            <a:ext cx="2788920" cy="5029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58444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3611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</a:rPr>
              <a:t>Self-Destruct Message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178808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D0E8FF"/>
                </a:solidFill>
              </a:rPr>
              <a:t>Send a 30-second timer message, watch it disappear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10128" y="3520440"/>
            <a:ext cx="2788920" cy="23317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10128" y="3520440"/>
            <a:ext cx="2788920" cy="5029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47288" y="358444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04488" y="3611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</a:rPr>
              <a:t>Multi-Device Sync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47288" y="4178808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D0E8FF"/>
                </a:solidFill>
              </a:rPr>
              <a:t>Login on second device, encrypted chats sync automatically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54496" y="3520440"/>
            <a:ext cx="2788920" cy="23317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54496" y="3520440"/>
            <a:ext cx="2788920" cy="5029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91656" y="358444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48856" y="3611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</a:rPr>
              <a:t>Panic Lock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91656" y="4178808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D0E8FF"/>
                </a:solidFill>
              </a:rPr>
              <a:t>Send #LOCK code from trusted device, all access blocked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98864" y="3520440"/>
            <a:ext cx="2788920" cy="23317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98864" y="3520440"/>
            <a:ext cx="2788920" cy="5029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36024" y="358444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93224" y="3611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</a:rPr>
              <a:t>Session Logout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36024" y="4178808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D0E8FF"/>
                </a:solidFill>
              </a:rPr>
              <a:t>View active sessions, logout specific device remotely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6094476" cy="7315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00C2FF"/>
                </a:solidFill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3703320" cy="24231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3703320" cy="457200"/>
          </a:xfrm>
          <a:prstGeom prst="rect">
            <a:avLst/>
          </a:prstGeom>
          <a:solidFill>
            <a:srgbClr val="00E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0584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0D1B2A"/>
                </a:solidFill>
              </a:rPr>
              <a:t>Phase 1 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03327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000">
                <a:solidFill>
                  <a:srgbClr val="0D1B2A"/>
                </a:solidFill>
              </a:rPr>
              <a:t>Auth &amp; Sessions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27048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D0E8FF"/>
                </a:solidFill>
              </a:rPr>
              <a:t>▸  Phone + OTP signup/login</a:t>
            </a:r>
          </a:p>
          <a:p>
            <a:r>
              <a:rPr sz="1200">
                <a:solidFill>
                  <a:srgbClr val="D0E8FF"/>
                </a:solidFill>
              </a:rPr>
              <a:t>▸  JWT sessions</a:t>
            </a:r>
          </a:p>
          <a:p>
            <a:r>
              <a:rPr sz="1200">
                <a:solidFill>
                  <a:srgbClr val="D0E8FF"/>
                </a:solidFill>
              </a:rPr>
              <a:t>▸  Multi-device session control</a:t>
            </a:r>
          </a:p>
          <a:p>
            <a:r>
              <a:rPr sz="1200">
                <a:solidFill>
                  <a:srgbClr val="D0E8FF"/>
                </a:solidFill>
              </a:rPr>
              <a:t>▸  Account deletion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9392" y="960120"/>
            <a:ext cx="3703320" cy="24231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9392" y="960120"/>
            <a:ext cx="3703320" cy="457200"/>
          </a:xfrm>
          <a:prstGeom prst="rect">
            <a:avLst/>
          </a:prstGeom>
          <a:solidFill>
            <a:srgbClr val="00E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6552" y="100584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0D1B2A"/>
                </a:solidFill>
              </a:rPr>
              <a:t>Phase 2 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272" y="103327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000">
                <a:solidFill>
                  <a:srgbClr val="0D1B2A"/>
                </a:solidFill>
              </a:rPr>
              <a:t>E2EE Crypto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1527048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D0E8FF"/>
                </a:solidFill>
              </a:rPr>
              <a:t>▸  X25519 keypair generation</a:t>
            </a:r>
          </a:p>
          <a:p>
            <a:r>
              <a:rPr sz="1200">
                <a:solidFill>
                  <a:srgbClr val="D0E8FF"/>
                </a:solidFill>
              </a:rPr>
              <a:t>▸  Argon2id PBKDF</a:t>
            </a:r>
          </a:p>
          <a:p>
            <a:r>
              <a:rPr sz="1200">
                <a:solidFill>
                  <a:srgbClr val="D0E8FF"/>
                </a:solidFill>
              </a:rPr>
              <a:t>▸  PrivKey encrypted backup</a:t>
            </a:r>
          </a:p>
          <a:p>
            <a:r>
              <a:rPr sz="1200">
                <a:solidFill>
                  <a:srgbClr val="D0E8FF"/>
                </a:solidFill>
              </a:rPr>
              <a:t>▸  CryptoUnlockBanner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024" y="960120"/>
            <a:ext cx="3703320" cy="24231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3024" y="960120"/>
            <a:ext cx="3703320" cy="457200"/>
          </a:xfrm>
          <a:prstGeom prst="rect">
            <a:avLst/>
          </a:prstGeom>
          <a:solidFill>
            <a:srgbClr val="00E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0184" y="100584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0D1B2A"/>
                </a:solidFill>
              </a:rPr>
              <a:t>Phase 3 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1904" y="103327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000">
                <a:solidFill>
                  <a:srgbClr val="0D1B2A"/>
                </a:solidFill>
              </a:rPr>
              <a:t>Realtime Messaging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4" y="1527048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D0E8FF"/>
                </a:solidFill>
              </a:rPr>
              <a:t>▸  1:1 chat</a:t>
            </a:r>
          </a:p>
          <a:p>
            <a:r>
              <a:rPr sz="1200">
                <a:solidFill>
                  <a:srgbClr val="D0E8FF"/>
                </a:solidFill>
              </a:rPr>
              <a:t>▸  Socket.IO delivery</a:t>
            </a:r>
          </a:p>
          <a:p>
            <a:r>
              <a:rPr sz="1200">
                <a:solidFill>
                  <a:srgbClr val="D0E8FF"/>
                </a:solidFill>
              </a:rPr>
              <a:t>▸  Typing &amp; read receipts</a:t>
            </a:r>
          </a:p>
          <a:p>
            <a:r>
              <a:rPr sz="1200">
                <a:solidFill>
                  <a:srgbClr val="D0E8FF"/>
                </a:solidFill>
              </a:rPr>
              <a:t>▸  Edit / Delete messages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66160"/>
            <a:ext cx="3703320" cy="24231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566160"/>
            <a:ext cx="3703320" cy="45720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6118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</a:rPr>
              <a:t>Phase 4 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363931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000">
                <a:solidFill>
                  <a:srgbClr val="FFFFFF"/>
                </a:solidFill>
              </a:rPr>
              <a:t>Privacy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133088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D0E8FF"/>
                </a:solidFill>
              </a:rPr>
              <a:t>▸  Hidden Vault with PIN</a:t>
            </a:r>
          </a:p>
          <a:p>
            <a:r>
              <a:rPr sz="1200">
                <a:solidFill>
                  <a:srgbClr val="D0E8FF"/>
                </a:solidFill>
              </a:rPr>
              <a:t>▸  Self-destruct messages</a:t>
            </a:r>
          </a:p>
          <a:p>
            <a:r>
              <a:rPr sz="1200">
                <a:solidFill>
                  <a:srgbClr val="D0E8FF"/>
                </a:solidFill>
              </a:rPr>
              <a:t>▸  Remote Panic Lock</a:t>
            </a:r>
          </a:p>
          <a:p>
            <a:r>
              <a:rPr sz="1200">
                <a:solidFill>
                  <a:srgbClr val="D0E8FF"/>
                </a:solidFill>
              </a:rPr>
              <a:t>▸  Minimal metadata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79392" y="3566160"/>
            <a:ext cx="3703320" cy="24231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79392" y="3566160"/>
            <a:ext cx="3703320" cy="4572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16552" y="36118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</a:rPr>
              <a:t>Phase 5 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363931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000">
                <a:solidFill>
                  <a:srgbClr val="FFFFFF"/>
                </a:solidFill>
              </a:rPr>
              <a:t>Polish &amp; Deploy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6552" y="4133088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D0E8FF"/>
                </a:solidFill>
              </a:rPr>
              <a:t>▸  Dark mode UI</a:t>
            </a:r>
          </a:p>
          <a:p>
            <a:r>
              <a:rPr sz="1200">
                <a:solidFill>
                  <a:srgbClr val="D0E8FF"/>
                </a:solidFill>
              </a:rPr>
              <a:t>▸  Framer Motion animations</a:t>
            </a:r>
          </a:p>
          <a:p>
            <a:r>
              <a:rPr sz="1200">
                <a:solidFill>
                  <a:srgbClr val="D0E8FF"/>
                </a:solidFill>
              </a:rPr>
              <a:t>▸  Vercel + Azure deploy</a:t>
            </a:r>
          </a:p>
          <a:p>
            <a:r>
              <a:rPr sz="1200">
                <a:solidFill>
                  <a:srgbClr val="D0E8FF"/>
                </a:solidFill>
              </a:rPr>
              <a:t>▸  Performance tuning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93024" y="3566160"/>
            <a:ext cx="3703320" cy="24231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93024" y="3566160"/>
            <a:ext cx="3703320" cy="45720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36118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FFFFF"/>
                </a:solidFill>
              </a:rPr>
              <a:t>Future 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61904" y="363931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000">
                <a:solidFill>
                  <a:srgbClr val="FFFFFF"/>
                </a:solidFill>
              </a:rPr>
              <a:t>Enhancements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0184" y="4133088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D0E8FF"/>
                </a:solidFill>
              </a:rPr>
              <a:t>▸  Group chats</a:t>
            </a:r>
          </a:p>
          <a:p>
            <a:r>
              <a:rPr sz="1200">
                <a:solidFill>
                  <a:srgbClr val="D0E8FF"/>
                </a:solidFill>
              </a:rPr>
              <a:t>▸  Media sharing</a:t>
            </a:r>
          </a:p>
          <a:p>
            <a:r>
              <a:rPr sz="1200">
                <a:solidFill>
                  <a:srgbClr val="D0E8FF"/>
                </a:solidFill>
              </a:rPr>
              <a:t>▸  Native mobile app</a:t>
            </a:r>
          </a:p>
          <a:p>
            <a:r>
              <a:rPr sz="1200">
                <a:solidFill>
                  <a:srgbClr val="D0E8FF"/>
                </a:solidFill>
              </a:rPr>
              <a:t>▸  Admin analytics panel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6094476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4476" y="457200"/>
            <a:ext cx="6094476" cy="54864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6094476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4476" y="6793992"/>
            <a:ext cx="6094476" cy="54864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164592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720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3716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4800">
                <a:solidFill>
                  <a:srgbClr val="00C2FF"/>
                </a:solidFill>
              </a:rPr>
              <a:t>Thank You!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3774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2000">
                <a:solidFill>
                  <a:srgbClr val="D0E8FF"/>
                </a:solidFill>
              </a:rPr>
              <a:t>Questions &amp; Discussion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3108960"/>
            <a:ext cx="5943600" cy="36576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32918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400">
                <a:solidFill>
                  <a:srgbClr val="FFFFFF"/>
                </a:solidFill>
              </a:rPr>
              <a:t>Chat-India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8404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400">
                <a:solidFill>
                  <a:srgbClr val="AABBCC"/>
                </a:solidFill>
              </a:rPr>
              <a:t>Secure Conversations. Hidden Control. Trusted Privacy.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50292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00C2FF"/>
                </a:solidFill>
              </a:rPr>
              <a:t>E2EE  ·  Panic Lock  ·  Hidden Vault  ·  Zero Plaintext  ·  Forward Secrecy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